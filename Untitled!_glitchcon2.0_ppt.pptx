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5" name="Google Shape;55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3" name="Google Shape;63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5" name="Google Shape;65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13"/>
          <p:cNvGrpSpPr/>
          <p:nvPr/>
        </p:nvGrpSpPr>
        <p:grpSpPr>
          <a:xfrm>
            <a:off x="632753" y="321503"/>
            <a:ext cx="17103765" cy="1794485"/>
            <a:chOff x="0" y="-419810"/>
            <a:chExt cx="22805020" cy="2392646"/>
          </a:xfrm>
        </p:grpSpPr>
        <p:grpSp>
          <p:nvGrpSpPr>
            <p:cNvPr id="105" name="Google Shape;105;p13"/>
            <p:cNvGrpSpPr/>
            <p:nvPr/>
          </p:nvGrpSpPr>
          <p:grpSpPr>
            <a:xfrm>
              <a:off x="14170825" y="-419810"/>
              <a:ext cx="8634195" cy="2168465"/>
              <a:chOff x="0" y="-47625"/>
              <a:chExt cx="979500" cy="246000"/>
            </a:xfrm>
          </p:grpSpPr>
          <p:sp>
            <p:nvSpPr>
              <p:cNvPr id="106" name="Google Shape;106;p13"/>
              <p:cNvSpPr/>
              <p:nvPr/>
            </p:nvSpPr>
            <p:spPr>
              <a:xfrm>
                <a:off x="0" y="0"/>
                <a:ext cx="979436" cy="198234"/>
              </a:xfrm>
              <a:custGeom>
                <a:rect b="b" l="l" r="r" t="t"/>
                <a:pathLst>
                  <a:path extrusionOk="0" h="198234" w="979436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C52FF">
                      <a:alpha val="33725"/>
                    </a:srgbClr>
                  </a:gs>
                  <a:gs pos="100000">
                    <a:srgbClr val="00BF63">
                      <a:alpha val="33725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3"/>
              <p:cNvSpPr txBox="1"/>
              <p:nvPr/>
            </p:nvSpPr>
            <p:spPr>
              <a:xfrm>
                <a:off x="0" y="-47625"/>
                <a:ext cx="979500" cy="24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6450" lIns="56450" spcFirstLastPara="1" rIns="56450" wrap="square" tIns="56450">
                <a:noAutofit/>
              </a:bodyPr>
              <a:lstStyle/>
              <a:p>
                <a:pPr indent="0" lvl="0" marL="0" marR="0" rtl="0" algn="ctr">
                  <a:lnSpc>
                    <a:spcPct val="19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8" name="Google Shape;108;p13"/>
            <p:cNvSpPr txBox="1"/>
            <p:nvPr/>
          </p:nvSpPr>
          <p:spPr>
            <a:xfrm>
              <a:off x="18542125" y="1128773"/>
              <a:ext cx="13917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12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ECDS</a:t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18487629" y="213128"/>
              <a:ext cx="1446293" cy="953744"/>
            </a:xfrm>
            <a:custGeom>
              <a:rect b="b" l="l" r="r" t="t"/>
              <a:pathLst>
                <a:path extrusionOk="0" h="953744" w="1446293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53138" l="-12249" r="-12479" t="-3600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20167830" y="331442"/>
              <a:ext cx="1085088" cy="1085088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15300917" y="286116"/>
              <a:ext cx="2952803" cy="1011539"/>
            </a:xfrm>
            <a:custGeom>
              <a:rect b="b" l="l" r="r" t="t"/>
              <a:pathLst>
                <a:path extrusionOk="0" h="1011539" w="2952803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38628" l="-88" r="-7058" t="-4004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0" y="0"/>
              <a:ext cx="7273132" cy="1972837"/>
            </a:xfrm>
            <a:custGeom>
              <a:rect b="b" l="l" r="r" t="t"/>
              <a:pathLst>
                <a:path extrusionOk="0" h="1972837" w="7273132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13"/>
          <p:cNvSpPr txBox="1"/>
          <p:nvPr/>
        </p:nvSpPr>
        <p:spPr>
          <a:xfrm>
            <a:off x="-844108" y="4376608"/>
            <a:ext cx="19976100" cy="1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88">
                <a:solidFill>
                  <a:srgbClr val="0D5B2E"/>
                </a:solidFill>
                <a:latin typeface="Montserrat"/>
                <a:ea typeface="Montserrat"/>
                <a:cs typeface="Montserrat"/>
                <a:sym typeface="Montserrat"/>
              </a:rPr>
              <a:t>MEDI-LEAD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5257410" y="7408001"/>
            <a:ext cx="71154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68">
                <a:solidFill>
                  <a:srgbClr val="0D5B2E"/>
                </a:solidFill>
                <a:latin typeface="Montserrat"/>
                <a:ea typeface="Montserrat"/>
                <a:cs typeface="Montserrat"/>
                <a:sym typeface="Montserrat"/>
              </a:rPr>
              <a:t>UNTITLED!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-152400" y="0"/>
            <a:ext cx="1842516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632753" y="2583278"/>
            <a:ext cx="15557100" cy="76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Healthcare providers face a number of queries from patients through various channels such as: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Website forms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WhatsApp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Social media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The major challenges faced in handling the leads are: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Delay in responding to the queries of the patients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Manual handling of the leads by the staff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Poor lead qualification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• High rate of lead drop-off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 lead that is not contacted within 5 minutes is 10 times less likely to convert.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However, there is no such system that can immediately respond and convert the leads.</a:t>
            </a:r>
            <a:endParaRPr sz="2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59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D5B2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1" name="Google Shape;121;p14"/>
          <p:cNvGrpSpPr/>
          <p:nvPr/>
        </p:nvGrpSpPr>
        <p:grpSpPr>
          <a:xfrm>
            <a:off x="632753" y="321503"/>
            <a:ext cx="17103765" cy="1794485"/>
            <a:chOff x="0" y="-419810"/>
            <a:chExt cx="22805020" cy="2392646"/>
          </a:xfrm>
        </p:grpSpPr>
        <p:grpSp>
          <p:nvGrpSpPr>
            <p:cNvPr id="122" name="Google Shape;122;p14"/>
            <p:cNvGrpSpPr/>
            <p:nvPr/>
          </p:nvGrpSpPr>
          <p:grpSpPr>
            <a:xfrm>
              <a:off x="14170825" y="-419810"/>
              <a:ext cx="8634195" cy="2168465"/>
              <a:chOff x="0" y="-47625"/>
              <a:chExt cx="979500" cy="246000"/>
            </a:xfrm>
          </p:grpSpPr>
          <p:sp>
            <p:nvSpPr>
              <p:cNvPr id="123" name="Google Shape;123;p14"/>
              <p:cNvSpPr/>
              <p:nvPr/>
            </p:nvSpPr>
            <p:spPr>
              <a:xfrm>
                <a:off x="0" y="0"/>
                <a:ext cx="979436" cy="198234"/>
              </a:xfrm>
              <a:custGeom>
                <a:rect b="b" l="l" r="r" t="t"/>
                <a:pathLst>
                  <a:path extrusionOk="0" h="198234" w="979436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C52FF">
                      <a:alpha val="33725"/>
                    </a:srgbClr>
                  </a:gs>
                  <a:gs pos="100000">
                    <a:srgbClr val="00BF63">
                      <a:alpha val="33725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4"/>
              <p:cNvSpPr txBox="1"/>
              <p:nvPr/>
            </p:nvSpPr>
            <p:spPr>
              <a:xfrm>
                <a:off x="0" y="-47625"/>
                <a:ext cx="979500" cy="24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6450" lIns="56450" spcFirstLastPara="1" rIns="56450" wrap="square" tIns="56450">
                <a:noAutofit/>
              </a:bodyPr>
              <a:lstStyle/>
              <a:p>
                <a:pPr indent="0" lvl="0" marL="0" marR="0" rtl="0" algn="ctr">
                  <a:lnSpc>
                    <a:spcPct val="19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5" name="Google Shape;125;p14"/>
            <p:cNvSpPr txBox="1"/>
            <p:nvPr/>
          </p:nvSpPr>
          <p:spPr>
            <a:xfrm>
              <a:off x="18542125" y="1128773"/>
              <a:ext cx="13917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12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ECDS</a:t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18487629" y="213128"/>
              <a:ext cx="1446293" cy="953744"/>
            </a:xfrm>
            <a:custGeom>
              <a:rect b="b" l="l" r="r" t="t"/>
              <a:pathLst>
                <a:path extrusionOk="0" h="953744" w="1446293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53138" l="-12249" r="-12479" t="-3600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20167830" y="331442"/>
              <a:ext cx="1085088" cy="1085088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15300917" y="286116"/>
              <a:ext cx="2952803" cy="1011539"/>
            </a:xfrm>
            <a:custGeom>
              <a:rect b="b" l="l" r="r" t="t"/>
              <a:pathLst>
                <a:path extrusionOk="0" h="1011539" w="2952803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38628" l="-88" r="-7058" t="-4004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0" y="0"/>
              <a:ext cx="7273132" cy="1972837"/>
            </a:xfrm>
            <a:custGeom>
              <a:rect b="b" l="l" r="r" t="t"/>
              <a:pathLst>
                <a:path extrusionOk="0" h="1972837" w="7273132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632753" y="2744728"/>
            <a:ext cx="15826500" cy="54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SOLUTION: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have created an AI-powered Lead Conversion Agent that works 24/7.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system can: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Automate the collection of leads from Web Chat and WhatsApp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Instantly respond to them with personalized messages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Qualify the leads using AI-powered conversations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Score the leads (Hot, Warm, Cold)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Book appointments for high-intent patients</a:t>
            </a:r>
            <a:endParaRPr/>
          </a:p>
        </p:txBody>
      </p:sp>
      <p:grpSp>
        <p:nvGrpSpPr>
          <p:cNvPr id="136" name="Google Shape;136;p15"/>
          <p:cNvGrpSpPr/>
          <p:nvPr/>
        </p:nvGrpSpPr>
        <p:grpSpPr>
          <a:xfrm>
            <a:off x="632753" y="321503"/>
            <a:ext cx="17103765" cy="1794485"/>
            <a:chOff x="0" y="-419810"/>
            <a:chExt cx="22805020" cy="2392646"/>
          </a:xfrm>
        </p:grpSpPr>
        <p:grpSp>
          <p:nvGrpSpPr>
            <p:cNvPr id="137" name="Google Shape;137;p15"/>
            <p:cNvGrpSpPr/>
            <p:nvPr/>
          </p:nvGrpSpPr>
          <p:grpSpPr>
            <a:xfrm>
              <a:off x="14170825" y="-419810"/>
              <a:ext cx="8634195" cy="2168465"/>
              <a:chOff x="0" y="-47625"/>
              <a:chExt cx="979500" cy="246000"/>
            </a:xfrm>
          </p:grpSpPr>
          <p:sp>
            <p:nvSpPr>
              <p:cNvPr id="138" name="Google Shape;138;p15"/>
              <p:cNvSpPr/>
              <p:nvPr/>
            </p:nvSpPr>
            <p:spPr>
              <a:xfrm>
                <a:off x="0" y="0"/>
                <a:ext cx="979436" cy="198234"/>
              </a:xfrm>
              <a:custGeom>
                <a:rect b="b" l="l" r="r" t="t"/>
                <a:pathLst>
                  <a:path extrusionOk="0" h="198234" w="979436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C52FF">
                      <a:alpha val="33725"/>
                    </a:srgbClr>
                  </a:gs>
                  <a:gs pos="100000">
                    <a:srgbClr val="00BF63">
                      <a:alpha val="33725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5"/>
              <p:cNvSpPr txBox="1"/>
              <p:nvPr/>
            </p:nvSpPr>
            <p:spPr>
              <a:xfrm>
                <a:off x="0" y="-47625"/>
                <a:ext cx="979500" cy="24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6450" lIns="56450" spcFirstLastPara="1" rIns="56450" wrap="square" tIns="56450">
                <a:noAutofit/>
              </a:bodyPr>
              <a:lstStyle/>
              <a:p>
                <a:pPr indent="0" lvl="0" marL="0" marR="0" rtl="0" algn="ctr">
                  <a:lnSpc>
                    <a:spcPct val="19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0" name="Google Shape;140;p15"/>
            <p:cNvSpPr txBox="1"/>
            <p:nvPr/>
          </p:nvSpPr>
          <p:spPr>
            <a:xfrm>
              <a:off x="18542125" y="1128773"/>
              <a:ext cx="13917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12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ECDS</a:t>
              </a: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18487629" y="213128"/>
              <a:ext cx="1446293" cy="953744"/>
            </a:xfrm>
            <a:custGeom>
              <a:rect b="b" l="l" r="r" t="t"/>
              <a:pathLst>
                <a:path extrusionOk="0" h="953744" w="1446293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53138" l="-12249" r="-12479" t="-3600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20167830" y="331442"/>
              <a:ext cx="1085088" cy="1085088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15300917" y="286116"/>
              <a:ext cx="2952803" cy="1011539"/>
            </a:xfrm>
            <a:custGeom>
              <a:rect b="b" l="l" r="r" t="t"/>
              <a:pathLst>
                <a:path extrusionOk="0" h="1011539" w="2952803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38628" l="-88" r="-7058" t="-4004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0" y="0"/>
              <a:ext cx="7273132" cy="1972837"/>
            </a:xfrm>
            <a:custGeom>
              <a:rect b="b" l="l" r="r" t="t"/>
              <a:pathLst>
                <a:path extrusionOk="0" h="1972837" w="7273132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914401" y="2115989"/>
            <a:ext cx="15657600" cy="7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5720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Unique Features:</a:t>
            </a:r>
            <a:endParaRPr/>
          </a:p>
          <a:p>
            <a:pPr indent="0" lvl="1" marL="45720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AI Conversation Agent: Automates patient interaction</a:t>
            </a:r>
            <a:endParaRPr/>
          </a:p>
          <a:p>
            <a:pPr indent="0" lvl="1" marL="45720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Smart Lead Scoring System: Hot / Warm / Cold</a:t>
            </a:r>
            <a:endParaRPr/>
          </a:p>
          <a:p>
            <a:pPr indent="0" lvl="1" marL="45720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Automatic Appointment Booking: Based on doctor availability</a:t>
            </a:r>
            <a:endParaRPr/>
          </a:p>
          <a:p>
            <a:pPr indent="0" lvl="1" marL="45720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Lead Capture: Through web and WhatsApp</a:t>
            </a:r>
            <a:endParaRPr/>
          </a:p>
          <a:p>
            <a:pPr indent="0" lvl="1" marL="45720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Continuous Learning System: Improves conversion strategies</a:t>
            </a:r>
            <a:endParaRPr/>
          </a:p>
          <a:p>
            <a:pPr indent="0" lvl="1" marL="45720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USP:</a:t>
            </a:r>
            <a:endParaRPr/>
          </a:p>
          <a:p>
            <a:pPr indent="0" lvl="1" marL="45720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 AI system that automatically converts patient inquiries into confirmed appointments.</a:t>
            </a:r>
            <a:endParaRPr/>
          </a:p>
        </p:txBody>
      </p:sp>
      <p:grpSp>
        <p:nvGrpSpPr>
          <p:cNvPr id="151" name="Google Shape;151;p16"/>
          <p:cNvGrpSpPr/>
          <p:nvPr/>
        </p:nvGrpSpPr>
        <p:grpSpPr>
          <a:xfrm>
            <a:off x="632753" y="321503"/>
            <a:ext cx="17103765" cy="1794485"/>
            <a:chOff x="0" y="-419810"/>
            <a:chExt cx="22805020" cy="2392646"/>
          </a:xfrm>
        </p:grpSpPr>
        <p:grpSp>
          <p:nvGrpSpPr>
            <p:cNvPr id="152" name="Google Shape;152;p16"/>
            <p:cNvGrpSpPr/>
            <p:nvPr/>
          </p:nvGrpSpPr>
          <p:grpSpPr>
            <a:xfrm>
              <a:off x="14170825" y="-419810"/>
              <a:ext cx="8634195" cy="2168465"/>
              <a:chOff x="0" y="-47625"/>
              <a:chExt cx="979500" cy="246000"/>
            </a:xfrm>
          </p:grpSpPr>
          <p:sp>
            <p:nvSpPr>
              <p:cNvPr id="153" name="Google Shape;153;p1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rect b="b" l="l" r="r" t="t"/>
                <a:pathLst>
                  <a:path extrusionOk="0" h="198234" w="979436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C52FF">
                      <a:alpha val="33725"/>
                    </a:srgbClr>
                  </a:gs>
                  <a:gs pos="100000">
                    <a:srgbClr val="00BF63">
                      <a:alpha val="33725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6"/>
              <p:cNvSpPr txBox="1"/>
              <p:nvPr/>
            </p:nvSpPr>
            <p:spPr>
              <a:xfrm>
                <a:off x="0" y="-47625"/>
                <a:ext cx="979500" cy="24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6450" lIns="56450" spcFirstLastPara="1" rIns="56450" wrap="square" tIns="56450">
                <a:noAutofit/>
              </a:bodyPr>
              <a:lstStyle/>
              <a:p>
                <a:pPr indent="0" lvl="0" marL="0" marR="0" rtl="0" algn="ctr">
                  <a:lnSpc>
                    <a:spcPct val="19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" name="Google Shape;155;p16"/>
            <p:cNvSpPr txBox="1"/>
            <p:nvPr/>
          </p:nvSpPr>
          <p:spPr>
            <a:xfrm>
              <a:off x="18542125" y="1128773"/>
              <a:ext cx="13917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12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ECDS</a:t>
              </a: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18487629" y="213128"/>
              <a:ext cx="1446293" cy="953744"/>
            </a:xfrm>
            <a:custGeom>
              <a:rect b="b" l="l" r="r" t="t"/>
              <a:pathLst>
                <a:path extrusionOk="0" h="953744" w="1446293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53138" l="-12249" r="-12479" t="-3600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20167830" y="331442"/>
              <a:ext cx="1085088" cy="1085088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15300917" y="286116"/>
              <a:ext cx="2952803" cy="1011539"/>
            </a:xfrm>
            <a:custGeom>
              <a:rect b="b" l="l" r="r" t="t"/>
              <a:pathLst>
                <a:path extrusionOk="0" h="1011539" w="2952803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38628" l="-88" r="-7058" t="-4004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0" y="0"/>
              <a:ext cx="7273132" cy="1972837"/>
            </a:xfrm>
            <a:custGeom>
              <a:rect b="b" l="l" r="r" t="t"/>
              <a:pathLst>
                <a:path extrusionOk="0" h="1972837" w="7273132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/>
          <p:nvPr/>
        </p:nvSpPr>
        <p:spPr>
          <a:xfrm>
            <a:off x="-989890" y="-321504"/>
            <a:ext cx="19522440" cy="10621328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838200" y="2198248"/>
            <a:ext cx="146319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60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 DIAGRAM WITH TECH STACK</a:t>
            </a:r>
            <a:endParaRPr/>
          </a:p>
          <a:p>
            <a:pPr indent="0" lvl="0" marL="0" marR="0" rtl="0" algn="l">
              <a:lnSpc>
                <a:spcPct val="260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6" name="Google Shape;166;p17"/>
          <p:cNvGrpSpPr/>
          <p:nvPr/>
        </p:nvGrpSpPr>
        <p:grpSpPr>
          <a:xfrm>
            <a:off x="632753" y="321503"/>
            <a:ext cx="17103765" cy="1794485"/>
            <a:chOff x="0" y="-419810"/>
            <a:chExt cx="22805020" cy="2392646"/>
          </a:xfrm>
        </p:grpSpPr>
        <p:grpSp>
          <p:nvGrpSpPr>
            <p:cNvPr id="167" name="Google Shape;167;p17"/>
            <p:cNvGrpSpPr/>
            <p:nvPr/>
          </p:nvGrpSpPr>
          <p:grpSpPr>
            <a:xfrm>
              <a:off x="14170825" y="-419810"/>
              <a:ext cx="8634195" cy="2168465"/>
              <a:chOff x="0" y="-47625"/>
              <a:chExt cx="979500" cy="246000"/>
            </a:xfrm>
          </p:grpSpPr>
          <p:sp>
            <p:nvSpPr>
              <p:cNvPr id="168" name="Google Shape;168;p17"/>
              <p:cNvSpPr/>
              <p:nvPr/>
            </p:nvSpPr>
            <p:spPr>
              <a:xfrm>
                <a:off x="0" y="0"/>
                <a:ext cx="979436" cy="198234"/>
              </a:xfrm>
              <a:custGeom>
                <a:rect b="b" l="l" r="r" t="t"/>
                <a:pathLst>
                  <a:path extrusionOk="0" h="198234" w="979436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C52FF">
                      <a:alpha val="33725"/>
                    </a:srgbClr>
                  </a:gs>
                  <a:gs pos="100000">
                    <a:srgbClr val="00BF63">
                      <a:alpha val="33725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0" y="-47625"/>
                <a:ext cx="979500" cy="24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6450" lIns="56450" spcFirstLastPara="1" rIns="56450" wrap="square" tIns="56450">
                <a:noAutofit/>
              </a:bodyPr>
              <a:lstStyle/>
              <a:p>
                <a:pPr indent="0" lvl="0" marL="0" marR="0" rtl="0" algn="ctr">
                  <a:lnSpc>
                    <a:spcPct val="19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" name="Google Shape;170;p17"/>
            <p:cNvSpPr txBox="1"/>
            <p:nvPr/>
          </p:nvSpPr>
          <p:spPr>
            <a:xfrm>
              <a:off x="18542125" y="1128773"/>
              <a:ext cx="13917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12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ECDS</a:t>
              </a:r>
              <a:endParaRPr/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18487629" y="213128"/>
              <a:ext cx="1446293" cy="953744"/>
            </a:xfrm>
            <a:custGeom>
              <a:rect b="b" l="l" r="r" t="t"/>
              <a:pathLst>
                <a:path extrusionOk="0" h="953744" w="1446293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53138" l="-12249" r="-12479" t="-3600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20167830" y="331442"/>
              <a:ext cx="1085088" cy="1085088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15300917" y="286116"/>
              <a:ext cx="2952803" cy="1011539"/>
            </a:xfrm>
            <a:custGeom>
              <a:rect b="b" l="l" r="r" t="t"/>
              <a:pathLst>
                <a:path extrusionOk="0" h="1011539" w="2952803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38628" l="-88" r="-7058" t="-4004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0" y="0"/>
              <a:ext cx="7273132" cy="1972837"/>
            </a:xfrm>
            <a:custGeom>
              <a:rect b="b" l="l" r="r" t="t"/>
              <a:pathLst>
                <a:path extrusionOk="0" h="1972837" w="7273132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5" name="Google Shape;17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201" y="3314700"/>
            <a:ext cx="15488653" cy="647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632753" y="2473807"/>
            <a:ext cx="14950500" cy="73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Lead Scoring System: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Lead scoring helps prioritize patients.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Hot Lead</a:t>
            </a:r>
            <a:b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Clear medical need</a:t>
            </a:r>
            <a:b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Urgent timeline</a:t>
            </a:r>
            <a:b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Ready to book appointment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Warm Lead</a:t>
            </a:r>
            <a:b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Interested but not urgent</a:t>
            </a:r>
            <a:b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Needs more information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Cold Lead</a:t>
            </a:r>
            <a:b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Only researching options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ensures high-priority patients receive immediate attention.</a:t>
            </a:r>
            <a:endParaRPr/>
          </a:p>
        </p:txBody>
      </p:sp>
      <p:grpSp>
        <p:nvGrpSpPr>
          <p:cNvPr id="182" name="Google Shape;182;p18"/>
          <p:cNvGrpSpPr/>
          <p:nvPr/>
        </p:nvGrpSpPr>
        <p:grpSpPr>
          <a:xfrm>
            <a:off x="632753" y="321503"/>
            <a:ext cx="17103765" cy="1794485"/>
            <a:chOff x="0" y="-419810"/>
            <a:chExt cx="22805020" cy="2392646"/>
          </a:xfrm>
        </p:grpSpPr>
        <p:grpSp>
          <p:nvGrpSpPr>
            <p:cNvPr id="183" name="Google Shape;183;p18"/>
            <p:cNvGrpSpPr/>
            <p:nvPr/>
          </p:nvGrpSpPr>
          <p:grpSpPr>
            <a:xfrm>
              <a:off x="14170825" y="-419810"/>
              <a:ext cx="8634195" cy="2168465"/>
              <a:chOff x="0" y="-47625"/>
              <a:chExt cx="979500" cy="246000"/>
            </a:xfrm>
          </p:grpSpPr>
          <p:sp>
            <p:nvSpPr>
              <p:cNvPr id="184" name="Google Shape;184;p18"/>
              <p:cNvSpPr/>
              <p:nvPr/>
            </p:nvSpPr>
            <p:spPr>
              <a:xfrm>
                <a:off x="0" y="0"/>
                <a:ext cx="979436" cy="198234"/>
              </a:xfrm>
              <a:custGeom>
                <a:rect b="b" l="l" r="r" t="t"/>
                <a:pathLst>
                  <a:path extrusionOk="0" h="198234" w="979436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C52FF">
                      <a:alpha val="33725"/>
                    </a:srgbClr>
                  </a:gs>
                  <a:gs pos="100000">
                    <a:srgbClr val="00BF63">
                      <a:alpha val="33725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8"/>
              <p:cNvSpPr txBox="1"/>
              <p:nvPr/>
            </p:nvSpPr>
            <p:spPr>
              <a:xfrm>
                <a:off x="0" y="-47625"/>
                <a:ext cx="979500" cy="24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6450" lIns="56450" spcFirstLastPara="1" rIns="56450" wrap="square" tIns="56450">
                <a:noAutofit/>
              </a:bodyPr>
              <a:lstStyle/>
              <a:p>
                <a:pPr indent="0" lvl="0" marL="0" marR="0" rtl="0" algn="ctr">
                  <a:lnSpc>
                    <a:spcPct val="19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" name="Google Shape;186;p18"/>
            <p:cNvSpPr txBox="1"/>
            <p:nvPr/>
          </p:nvSpPr>
          <p:spPr>
            <a:xfrm>
              <a:off x="18542125" y="1128773"/>
              <a:ext cx="13917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12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ECDS</a:t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18487629" y="213128"/>
              <a:ext cx="1446293" cy="953744"/>
            </a:xfrm>
            <a:custGeom>
              <a:rect b="b" l="l" r="r" t="t"/>
              <a:pathLst>
                <a:path extrusionOk="0" h="953744" w="1446293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53138" l="-12249" r="-12479" t="-3600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20167830" y="331442"/>
              <a:ext cx="1085088" cy="1085088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15300917" y="286116"/>
              <a:ext cx="2952803" cy="1011539"/>
            </a:xfrm>
            <a:custGeom>
              <a:rect b="b" l="l" r="r" t="t"/>
              <a:pathLst>
                <a:path extrusionOk="0" h="1011539" w="2952803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38628" l="-88" r="-7058" t="-4004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0" y="0"/>
              <a:ext cx="7273132" cy="1972837"/>
            </a:xfrm>
            <a:custGeom>
              <a:rect b="b" l="l" r="r" t="t"/>
              <a:pathLst>
                <a:path extrusionOk="0" h="1972837" w="7273132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1371601" y="3238501"/>
            <a:ext cx="14020800" cy="50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Tools: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 Functional Modules: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capture_lead() – Extracts patient information</a:t>
            </a:r>
            <a:b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classify_intent() – Detects service type and urgency</a:t>
            </a:r>
            <a:b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ask_qualification_question() – Collects patient needs</a:t>
            </a:r>
            <a:b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score_lead() – Categorizes lead readiness</a:t>
            </a:r>
            <a:b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check_doctor_availability() – Finds available slots</a:t>
            </a:r>
            <a:b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book_appointment() – Confirms appointment</a:t>
            </a:r>
            <a:b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log_interaction() – Records lead activity</a:t>
            </a:r>
            <a:endParaRPr/>
          </a:p>
        </p:txBody>
      </p:sp>
      <p:grpSp>
        <p:nvGrpSpPr>
          <p:cNvPr id="197" name="Google Shape;197;p19"/>
          <p:cNvGrpSpPr/>
          <p:nvPr/>
        </p:nvGrpSpPr>
        <p:grpSpPr>
          <a:xfrm>
            <a:off x="632753" y="321503"/>
            <a:ext cx="17103765" cy="1794485"/>
            <a:chOff x="0" y="-419810"/>
            <a:chExt cx="22805020" cy="2392646"/>
          </a:xfrm>
        </p:grpSpPr>
        <p:grpSp>
          <p:nvGrpSpPr>
            <p:cNvPr id="198" name="Google Shape;198;p19"/>
            <p:cNvGrpSpPr/>
            <p:nvPr/>
          </p:nvGrpSpPr>
          <p:grpSpPr>
            <a:xfrm>
              <a:off x="14170825" y="-419810"/>
              <a:ext cx="8634195" cy="2168465"/>
              <a:chOff x="0" y="-47625"/>
              <a:chExt cx="979500" cy="246000"/>
            </a:xfrm>
          </p:grpSpPr>
          <p:sp>
            <p:nvSpPr>
              <p:cNvPr id="199" name="Google Shape;199;p19"/>
              <p:cNvSpPr/>
              <p:nvPr/>
            </p:nvSpPr>
            <p:spPr>
              <a:xfrm>
                <a:off x="0" y="0"/>
                <a:ext cx="979436" cy="198234"/>
              </a:xfrm>
              <a:custGeom>
                <a:rect b="b" l="l" r="r" t="t"/>
                <a:pathLst>
                  <a:path extrusionOk="0" h="198234" w="979436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C52FF">
                      <a:alpha val="33725"/>
                    </a:srgbClr>
                  </a:gs>
                  <a:gs pos="100000">
                    <a:srgbClr val="00BF63">
                      <a:alpha val="33725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9"/>
              <p:cNvSpPr txBox="1"/>
              <p:nvPr/>
            </p:nvSpPr>
            <p:spPr>
              <a:xfrm>
                <a:off x="0" y="-47625"/>
                <a:ext cx="979500" cy="24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6450" lIns="56450" spcFirstLastPara="1" rIns="56450" wrap="square" tIns="56450">
                <a:noAutofit/>
              </a:bodyPr>
              <a:lstStyle/>
              <a:p>
                <a:pPr indent="0" lvl="0" marL="0" marR="0" rtl="0" algn="ctr">
                  <a:lnSpc>
                    <a:spcPct val="19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1" name="Google Shape;201;p19"/>
            <p:cNvSpPr txBox="1"/>
            <p:nvPr/>
          </p:nvSpPr>
          <p:spPr>
            <a:xfrm>
              <a:off x="18542125" y="1128773"/>
              <a:ext cx="13917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12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ECDS</a:t>
              </a:r>
              <a:endParaRPr/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18487629" y="213128"/>
              <a:ext cx="1446293" cy="953744"/>
            </a:xfrm>
            <a:custGeom>
              <a:rect b="b" l="l" r="r" t="t"/>
              <a:pathLst>
                <a:path extrusionOk="0" h="953744" w="1446293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53138" l="-12249" r="-12479" t="-3600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20167830" y="331442"/>
              <a:ext cx="1085088" cy="1085088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15300917" y="286116"/>
              <a:ext cx="2952803" cy="1011539"/>
            </a:xfrm>
            <a:custGeom>
              <a:rect b="b" l="l" r="r" t="t"/>
              <a:pathLst>
                <a:path extrusionOk="0" h="1011539" w="2952803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38628" l="-88" r="-7058" t="-4004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0" y="0"/>
              <a:ext cx="7273132" cy="1972837"/>
            </a:xfrm>
            <a:custGeom>
              <a:rect b="b" l="l" r="r" t="t"/>
              <a:pathLst>
                <a:path extrusionOk="0" h="1972837" w="7273132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1524000" y="2583278"/>
            <a:ext cx="13946100" cy="6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Analytics Dashboard: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system tracks lead performance through a dashboard.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metrics include: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Total leads captured</a:t>
            </a:r>
            <a:b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Leads qualified</a:t>
            </a:r>
            <a:b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Appointments booked</a:t>
            </a:r>
            <a:b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Conversion rate</a:t>
            </a:r>
            <a:b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Channel performance</a:t>
            </a:r>
            <a:b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Service demand trends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Helps healthcare providers improve marketing and patient conversion strategies.</a:t>
            </a:r>
            <a:endParaRPr/>
          </a:p>
        </p:txBody>
      </p:sp>
      <p:grpSp>
        <p:nvGrpSpPr>
          <p:cNvPr id="212" name="Google Shape;212;p20"/>
          <p:cNvGrpSpPr/>
          <p:nvPr/>
        </p:nvGrpSpPr>
        <p:grpSpPr>
          <a:xfrm>
            <a:off x="632753" y="321503"/>
            <a:ext cx="17103765" cy="1794485"/>
            <a:chOff x="0" y="-419810"/>
            <a:chExt cx="22805020" cy="2392646"/>
          </a:xfrm>
        </p:grpSpPr>
        <p:grpSp>
          <p:nvGrpSpPr>
            <p:cNvPr id="213" name="Google Shape;213;p20"/>
            <p:cNvGrpSpPr/>
            <p:nvPr/>
          </p:nvGrpSpPr>
          <p:grpSpPr>
            <a:xfrm>
              <a:off x="14170825" y="-419810"/>
              <a:ext cx="8634195" cy="2168465"/>
              <a:chOff x="0" y="-47625"/>
              <a:chExt cx="979500" cy="246000"/>
            </a:xfrm>
          </p:grpSpPr>
          <p:sp>
            <p:nvSpPr>
              <p:cNvPr id="214" name="Google Shape;214;p20"/>
              <p:cNvSpPr/>
              <p:nvPr/>
            </p:nvSpPr>
            <p:spPr>
              <a:xfrm>
                <a:off x="0" y="0"/>
                <a:ext cx="979436" cy="198234"/>
              </a:xfrm>
              <a:custGeom>
                <a:rect b="b" l="l" r="r" t="t"/>
                <a:pathLst>
                  <a:path extrusionOk="0" h="198234" w="979436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C52FF">
                      <a:alpha val="33725"/>
                    </a:srgbClr>
                  </a:gs>
                  <a:gs pos="100000">
                    <a:srgbClr val="00BF63">
                      <a:alpha val="33725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20"/>
              <p:cNvSpPr txBox="1"/>
              <p:nvPr/>
            </p:nvSpPr>
            <p:spPr>
              <a:xfrm>
                <a:off x="0" y="-47625"/>
                <a:ext cx="979500" cy="24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6450" lIns="56450" spcFirstLastPara="1" rIns="56450" wrap="square" tIns="56450">
                <a:noAutofit/>
              </a:bodyPr>
              <a:lstStyle/>
              <a:p>
                <a:pPr indent="0" lvl="0" marL="0" marR="0" rtl="0" algn="ctr">
                  <a:lnSpc>
                    <a:spcPct val="19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6" name="Google Shape;216;p20"/>
            <p:cNvSpPr txBox="1"/>
            <p:nvPr/>
          </p:nvSpPr>
          <p:spPr>
            <a:xfrm>
              <a:off x="18542125" y="1128773"/>
              <a:ext cx="13917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12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ECDS</a:t>
              </a:r>
              <a:endParaRPr/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18487629" y="213128"/>
              <a:ext cx="1446293" cy="953744"/>
            </a:xfrm>
            <a:custGeom>
              <a:rect b="b" l="l" r="r" t="t"/>
              <a:pathLst>
                <a:path extrusionOk="0" h="953744" w="1446293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53138" l="-12249" r="-12479" t="-3600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20167830" y="331442"/>
              <a:ext cx="1085088" cy="1085088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15300917" y="286116"/>
              <a:ext cx="2952803" cy="1011539"/>
            </a:xfrm>
            <a:custGeom>
              <a:rect b="b" l="l" r="r" t="t"/>
              <a:pathLst>
                <a:path extrusionOk="0" h="1011539" w="2952803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38628" l="-88" r="-7058" t="-4004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0" y="0"/>
              <a:ext cx="7273132" cy="1972837"/>
            </a:xfrm>
            <a:custGeom>
              <a:rect b="b" l="l" r="r" t="t"/>
              <a:pathLst>
                <a:path extrusionOk="0" h="1972837" w="7273132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447800" y="2933700"/>
            <a:ext cx="14022300" cy="5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Adaptive Learning: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AI continuously improves using past interactions.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Records conversation paths</a:t>
            </a:r>
            <a:b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Tracks converted and lost leads</a:t>
            </a:r>
            <a:b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Analyzes best performing question sequences</a:t>
            </a:r>
            <a:b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Updates qualification strategy automatically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self-learning system that improves conversion rates over time.</a:t>
            </a:r>
            <a:endParaRPr/>
          </a:p>
        </p:txBody>
      </p:sp>
      <p:grpSp>
        <p:nvGrpSpPr>
          <p:cNvPr id="227" name="Google Shape;227;p21"/>
          <p:cNvGrpSpPr/>
          <p:nvPr/>
        </p:nvGrpSpPr>
        <p:grpSpPr>
          <a:xfrm>
            <a:off x="632753" y="321503"/>
            <a:ext cx="17103765" cy="1794485"/>
            <a:chOff x="0" y="-419810"/>
            <a:chExt cx="22805020" cy="2392646"/>
          </a:xfrm>
        </p:grpSpPr>
        <p:grpSp>
          <p:nvGrpSpPr>
            <p:cNvPr id="228" name="Google Shape;228;p21"/>
            <p:cNvGrpSpPr/>
            <p:nvPr/>
          </p:nvGrpSpPr>
          <p:grpSpPr>
            <a:xfrm>
              <a:off x="14170825" y="-419810"/>
              <a:ext cx="8634195" cy="2168465"/>
              <a:chOff x="0" y="-47625"/>
              <a:chExt cx="979500" cy="246000"/>
            </a:xfrm>
          </p:grpSpPr>
          <p:sp>
            <p:nvSpPr>
              <p:cNvPr id="229" name="Google Shape;229;p21"/>
              <p:cNvSpPr/>
              <p:nvPr/>
            </p:nvSpPr>
            <p:spPr>
              <a:xfrm>
                <a:off x="0" y="0"/>
                <a:ext cx="979436" cy="198234"/>
              </a:xfrm>
              <a:custGeom>
                <a:rect b="b" l="l" r="r" t="t"/>
                <a:pathLst>
                  <a:path extrusionOk="0" h="198234" w="979436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C52FF">
                      <a:alpha val="33725"/>
                    </a:srgbClr>
                  </a:gs>
                  <a:gs pos="100000">
                    <a:srgbClr val="00BF63">
                      <a:alpha val="33725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21"/>
              <p:cNvSpPr txBox="1"/>
              <p:nvPr/>
            </p:nvSpPr>
            <p:spPr>
              <a:xfrm>
                <a:off x="0" y="-47625"/>
                <a:ext cx="979500" cy="24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6450" lIns="56450" spcFirstLastPara="1" rIns="56450" wrap="square" tIns="56450">
                <a:noAutofit/>
              </a:bodyPr>
              <a:lstStyle/>
              <a:p>
                <a:pPr indent="0" lvl="0" marL="0" marR="0" rtl="0" algn="ctr">
                  <a:lnSpc>
                    <a:spcPct val="19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1" name="Google Shape;231;p21"/>
            <p:cNvSpPr txBox="1"/>
            <p:nvPr/>
          </p:nvSpPr>
          <p:spPr>
            <a:xfrm>
              <a:off x="18542125" y="1128773"/>
              <a:ext cx="13917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12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ECDS</a:t>
              </a:r>
              <a:endParaRPr/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18487629" y="213128"/>
              <a:ext cx="1446293" cy="953744"/>
            </a:xfrm>
            <a:custGeom>
              <a:rect b="b" l="l" r="r" t="t"/>
              <a:pathLst>
                <a:path extrusionOk="0" h="953744" w="1446293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53138" l="-12249" r="-12479" t="-3600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20167830" y="331442"/>
              <a:ext cx="1085088" cy="1085088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15300917" y="286116"/>
              <a:ext cx="2952803" cy="1011539"/>
            </a:xfrm>
            <a:custGeom>
              <a:rect b="b" l="l" r="r" t="t"/>
              <a:pathLst>
                <a:path extrusionOk="0" h="1011539" w="2952803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38628" l="-88" r="-7058" t="-4004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0" y="0"/>
              <a:ext cx="7273132" cy="1972837"/>
            </a:xfrm>
            <a:custGeom>
              <a:rect b="b" l="l" r="r" t="t"/>
              <a:pathLst>
                <a:path extrusionOk="0" h="1972837" w="7273132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/>
          <p:nvPr/>
        </p:nvSpPr>
        <p:spPr>
          <a:xfrm>
            <a:off x="0" y="-321503"/>
            <a:ext cx="18288000" cy="1069848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1066800" y="3009900"/>
            <a:ext cx="14403300" cy="6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2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D5B2E"/>
                </a:solidFill>
                <a:latin typeface="Montserrat"/>
                <a:ea typeface="Montserrat"/>
                <a:cs typeface="Montserrat"/>
                <a:sym typeface="Montserrat"/>
              </a:rPr>
              <a:t>Team Members:</a:t>
            </a:r>
            <a:endParaRPr/>
          </a:p>
          <a:p>
            <a:pPr indent="0" lvl="0" marL="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D5B2E"/>
                </a:solidFill>
                <a:latin typeface="Montserrat"/>
                <a:ea typeface="Montserrat"/>
                <a:cs typeface="Montserrat"/>
                <a:sym typeface="Montserrat"/>
              </a:rPr>
              <a:t>Harisivanesh P – 24MIA1074</a:t>
            </a:r>
            <a:endParaRPr/>
          </a:p>
          <a:p>
            <a:pPr indent="0" lvl="0" marL="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D5B2E"/>
                </a:solidFill>
                <a:latin typeface="Montserrat"/>
                <a:ea typeface="Montserrat"/>
                <a:cs typeface="Montserrat"/>
                <a:sym typeface="Montserrat"/>
              </a:rPr>
              <a:t>Kameshwaran MM – 24MIA1047</a:t>
            </a:r>
            <a:endParaRPr/>
          </a:p>
          <a:p>
            <a:pPr indent="0" lvl="0" marL="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D5B2E"/>
                </a:solidFill>
                <a:latin typeface="Montserrat"/>
                <a:ea typeface="Montserrat"/>
                <a:cs typeface="Montserrat"/>
                <a:sym typeface="Montserrat"/>
              </a:rPr>
              <a:t>Mathilesh E – 24MIA1139</a:t>
            </a:r>
            <a:endParaRPr/>
          </a:p>
          <a:p>
            <a:pPr indent="0" lvl="0" marL="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D5B2E"/>
                </a:solidFill>
                <a:latin typeface="Montserrat"/>
                <a:ea typeface="Montserrat"/>
                <a:cs typeface="Montserrat"/>
                <a:sym typeface="Montserrat"/>
              </a:rPr>
              <a:t>Mukesh T- 24MIA1065</a:t>
            </a:r>
            <a:endParaRPr/>
          </a:p>
          <a:p>
            <a:pPr indent="0" lvl="0" marL="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D5B2E"/>
                </a:solidFill>
                <a:latin typeface="Montserrat"/>
                <a:ea typeface="Montserrat"/>
                <a:cs typeface="Montserrat"/>
                <a:sym typeface="Montserrat"/>
              </a:rPr>
              <a:t>Santhosh S – 24MIA1049</a:t>
            </a:r>
            <a:endParaRPr/>
          </a:p>
          <a:p>
            <a:pPr indent="0" lvl="0" marL="0" marR="0" rtl="0" algn="l">
              <a:lnSpc>
                <a:spcPct val="2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D5B2E"/>
                </a:solidFill>
                <a:latin typeface="Montserrat"/>
                <a:ea typeface="Montserrat"/>
                <a:cs typeface="Montserrat"/>
                <a:sym typeface="Montserrat"/>
              </a:rPr>
              <a:t>Haswinth M – 24MIA1036</a:t>
            </a:r>
            <a:endParaRPr/>
          </a:p>
        </p:txBody>
      </p:sp>
      <p:grpSp>
        <p:nvGrpSpPr>
          <p:cNvPr id="242" name="Google Shape;242;p22"/>
          <p:cNvGrpSpPr/>
          <p:nvPr/>
        </p:nvGrpSpPr>
        <p:grpSpPr>
          <a:xfrm>
            <a:off x="632753" y="321503"/>
            <a:ext cx="17103765" cy="1794485"/>
            <a:chOff x="0" y="-419810"/>
            <a:chExt cx="22805020" cy="2392646"/>
          </a:xfrm>
        </p:grpSpPr>
        <p:grpSp>
          <p:nvGrpSpPr>
            <p:cNvPr id="243" name="Google Shape;243;p22"/>
            <p:cNvGrpSpPr/>
            <p:nvPr/>
          </p:nvGrpSpPr>
          <p:grpSpPr>
            <a:xfrm>
              <a:off x="14170825" y="-419810"/>
              <a:ext cx="8634195" cy="2168465"/>
              <a:chOff x="0" y="-47625"/>
              <a:chExt cx="979500" cy="246000"/>
            </a:xfrm>
          </p:grpSpPr>
          <p:sp>
            <p:nvSpPr>
              <p:cNvPr id="244" name="Google Shape;244;p22"/>
              <p:cNvSpPr/>
              <p:nvPr/>
            </p:nvSpPr>
            <p:spPr>
              <a:xfrm>
                <a:off x="0" y="0"/>
                <a:ext cx="979436" cy="198234"/>
              </a:xfrm>
              <a:custGeom>
                <a:rect b="b" l="l" r="r" t="t"/>
                <a:pathLst>
                  <a:path extrusionOk="0" h="198234" w="979436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C52FF">
                      <a:alpha val="33725"/>
                    </a:srgbClr>
                  </a:gs>
                  <a:gs pos="100000">
                    <a:srgbClr val="00BF63">
                      <a:alpha val="33725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22"/>
              <p:cNvSpPr txBox="1"/>
              <p:nvPr/>
            </p:nvSpPr>
            <p:spPr>
              <a:xfrm>
                <a:off x="0" y="-47625"/>
                <a:ext cx="979500" cy="24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6450" lIns="56450" spcFirstLastPara="1" rIns="56450" wrap="square" tIns="56450">
                <a:noAutofit/>
              </a:bodyPr>
              <a:lstStyle/>
              <a:p>
                <a:pPr indent="0" lvl="0" marL="0" marR="0" rtl="0" algn="ctr">
                  <a:lnSpc>
                    <a:spcPct val="19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" name="Google Shape;246;p22"/>
            <p:cNvSpPr txBox="1"/>
            <p:nvPr/>
          </p:nvSpPr>
          <p:spPr>
            <a:xfrm>
              <a:off x="18542125" y="1128773"/>
              <a:ext cx="1391700" cy="4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12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ECDS</a:t>
              </a:r>
              <a:endParaRPr/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18487629" y="213128"/>
              <a:ext cx="1446293" cy="953744"/>
            </a:xfrm>
            <a:custGeom>
              <a:rect b="b" l="l" r="r" t="t"/>
              <a:pathLst>
                <a:path extrusionOk="0" h="953744" w="1446293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53138" l="-12249" r="-12479" t="-3600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2"/>
            <p:cNvSpPr/>
            <p:nvPr/>
          </p:nvSpPr>
          <p:spPr>
            <a:xfrm>
              <a:off x="20167830" y="331442"/>
              <a:ext cx="1085088" cy="1085088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2"/>
            <p:cNvSpPr/>
            <p:nvPr/>
          </p:nvSpPr>
          <p:spPr>
            <a:xfrm>
              <a:off x="15300917" y="286116"/>
              <a:ext cx="2952803" cy="1011539"/>
            </a:xfrm>
            <a:custGeom>
              <a:rect b="b" l="l" r="r" t="t"/>
              <a:pathLst>
                <a:path extrusionOk="0" h="1011539" w="2952803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38628" l="-88" r="-7058" t="-4004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2"/>
            <p:cNvSpPr/>
            <p:nvPr/>
          </p:nvSpPr>
          <p:spPr>
            <a:xfrm>
              <a:off x="0" y="0"/>
              <a:ext cx="7273132" cy="1972837"/>
            </a:xfrm>
            <a:custGeom>
              <a:rect b="b" l="l" r="r" t="t"/>
              <a:pathLst>
                <a:path extrusionOk="0" h="1972837" w="7273132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